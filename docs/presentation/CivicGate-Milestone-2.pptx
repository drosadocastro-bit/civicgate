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18ba1a3bf78428d" /><Relationship Type="http://schemas.openxmlformats.org/officeDocument/2006/relationships/extended-properties" Target="/docProps/app.xml" Id="Rf6a648e30ff2416e" /><Relationship Type="http://schemas.openxmlformats.org/officeDocument/2006/relationships/officeDocument" Target="/ppt/presentation.xml" Id="R0744a2197709440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9cfc4a4d9b44401"/>
  </p:sldMasterIdLst>
  <p:notesMasterIdLst>
    <p:notesMasterId xmlns:r="http://schemas.openxmlformats.org/officeDocument/2006/relationships" r:id="Rf1a1f506140d49f7"/>
  </p:notesMasterIdLst>
  <p:sldIdLst>
    <p:sldId xmlns:r="http://schemas.openxmlformats.org/officeDocument/2006/relationships" id="256" r:id="Rfee538d790aa470e"/>
    <p:sldId xmlns:r="http://schemas.openxmlformats.org/officeDocument/2006/relationships" id="257" r:id="R7ee7003830ae4b55"/>
    <p:sldId xmlns:r="http://schemas.openxmlformats.org/officeDocument/2006/relationships" id="258" r:id="R4a16177531b942aa"/>
    <p:sldId xmlns:r="http://schemas.openxmlformats.org/officeDocument/2006/relationships" id="259" r:id="R4adfb53d8d404ead"/>
    <p:sldId xmlns:r="http://schemas.openxmlformats.org/officeDocument/2006/relationships" id="260" r:id="Radcec326d5ee4822"/>
    <p:sldId xmlns:r="http://schemas.openxmlformats.org/officeDocument/2006/relationships" id="261" r:id="R3f705425767a494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e434d22821d441a" /><Relationship Type="http://schemas.openxmlformats.org/officeDocument/2006/relationships/slideMaster" Target="/ppt/slideMasters/slideMaster1.xml" Id="R39cfc4a4d9b44401" /><Relationship Type="http://schemas.openxmlformats.org/officeDocument/2006/relationships/notesMaster" Target="/ppt/notesMasters/notesMaster1.xml" Id="Rf1a1f506140d49f7" /><Relationship Type="http://schemas.openxmlformats.org/officeDocument/2006/relationships/presProps" Target="/ppt/presProps.xml" Id="R497dbbb88cc74701" /><Relationship Type="http://schemas.openxmlformats.org/officeDocument/2006/relationships/tableStyles" Target="/ppt/tableStyles.xml" Id="Rda415d41599a4799" /><Relationship Type="http://schemas.openxmlformats.org/officeDocument/2006/relationships/slide" Target="/ppt/slides/slide1.xml" Id="Rfee538d790aa470e" /><Relationship Type="http://schemas.openxmlformats.org/officeDocument/2006/relationships/slide" Target="/ppt/slides/slide2.xml" Id="R7ee7003830ae4b55" /><Relationship Type="http://schemas.openxmlformats.org/officeDocument/2006/relationships/slide" Target="/ppt/slides/slide3.xml" Id="R4a16177531b942aa" /><Relationship Type="http://schemas.openxmlformats.org/officeDocument/2006/relationships/slide" Target="/ppt/slides/slide4.xml" Id="R4adfb53d8d404ead" /><Relationship Type="http://schemas.openxmlformats.org/officeDocument/2006/relationships/slide" Target="/ppt/slides/slide5.xml" Id="Radcec326d5ee4822" /><Relationship Type="http://schemas.openxmlformats.org/officeDocument/2006/relationships/slide" Target="/ppt/slides/slide6.xml" Id="R3f705425767a494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4e7abe26c5d443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da51f82d8fb435b" /><Relationship Type="http://schemas.openxmlformats.org/officeDocument/2006/relationships/notesMaster" Target="/ppt/notesMasters/notesMaster1.xml" Id="R808555c043874c9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3d2bb88b0724204" /><Relationship Type="http://schemas.openxmlformats.org/officeDocument/2006/relationships/notesMaster" Target="/ppt/notesMasters/notesMaster1.xml" Id="R302938822f514d4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963ae0628d6401b" /><Relationship Type="http://schemas.openxmlformats.org/officeDocument/2006/relationships/notesMaster" Target="/ppt/notesMasters/notesMaster1.xml" Id="R45e56303aeff417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d63f8e9c0df45c6" /><Relationship Type="http://schemas.openxmlformats.org/officeDocument/2006/relationships/notesMaster" Target="/ppt/notesMasters/notesMaster1.xml" Id="R8b1ea8afb1ce42c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7805b4f165545b9" /><Relationship Type="http://schemas.openxmlformats.org/officeDocument/2006/relationships/notesMaster" Target="/ppt/notesMasters/notesMaster1.xml" Id="Rc3430423236b478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b32ee19fd9745d6" /><Relationship Type="http://schemas.openxmlformats.org/officeDocument/2006/relationships/notesMaster" Target="/ppt/notesMasters/notesMaster1.xml" Id="R61c2bd953ca24b6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Milestone 2, September 17, 2026. Sources: docs/MILESTONE_2.md and the GSA MCP and AI Agent Government Hackathon page reviewed September 17, 2026. No GSA approval is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src/civicgate/runtime_config.py, src/civicgate/llm/live.py, src/civicgate/windows_dpapi.py, docs/SECURITY.md.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src/civicgate/mcp/tools.py, src/civicgate/governance/policy.py, src/civicgate/governance/agent_k.py, docs/ARCHITECTURE.md.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docs/GRANITE_AGENT_BENCHMARK.md, docs/JUDGE_BENCHMARK.md, artifacts/granite-agent-benchmark.json, artifacts/judge-benchmark.json.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docs/HYBRID_EVALUATION.md, artifacts/hybrid-evaluation.json, tests/fixtures/adversarial.json.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artifacts/evaluation.json, artifacts/granite-agent-benchmark.json, artifacts/judge-benchmark.json, artifacts/hybrid-evaluation.json, docs/BUILD_REPORT.md, docs/LIVE_MODEL_LIMITATIONS.md.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62a7fd27f94fe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b8dd22c37d843c7" /><Relationship Type="http://schemas.openxmlformats.org/officeDocument/2006/relationships/slideLayout" Target="/ppt/slideLayouts/slideLayout1.xml" Id="R1121e5a5ab344ca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121e5a5ab344ca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350fa796ac4a0f" /><Relationship Type="http://schemas.openxmlformats.org/officeDocument/2006/relationships/notesSlide" Target="/ppt/notesSlides/notesSlide1.xml" Id="Re592b6d850524a9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511d1d2b1a4f3d" /><Relationship Type="http://schemas.openxmlformats.org/officeDocument/2006/relationships/notesSlide" Target="/ppt/notesSlides/notesSlide2.xml" Id="R0e7a8209b8cc4ba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4a2ef4ce0a4512" /><Relationship Type="http://schemas.openxmlformats.org/officeDocument/2006/relationships/notesSlide" Target="/ppt/notesSlides/notesSlide3.xml" Id="R8bd00063e389400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52b88dc3bc4230" /><Relationship Type="http://schemas.openxmlformats.org/officeDocument/2006/relationships/notesSlide" Target="/ppt/notesSlides/notesSlide4.xml" Id="Rda0846909d6b4d4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ced6ed17934f34" /><Relationship Type="http://schemas.openxmlformats.org/officeDocument/2006/relationships/notesSlide" Target="/ppt/notesSlides/notesSlide5.xml" Id="Ra46777f968c04a0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81bf162ac34a9f" /><Relationship Type="http://schemas.openxmlformats.org/officeDocument/2006/relationships/notesSlide" Target="/ppt/notesSlides/notesSlide6.xml" Id="Rb397509e10aa499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5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04138B-5EBF-46EB-9B56-8A6BC9A32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3875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5F6E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5F6EF"/>
                </a:solidFill>
                <a:latin typeface="Arial"/>
                <a:ea typeface="Arial"/>
                <a:cs typeface="Arial"/>
              </a:rPr>
              <a:t>CivicGate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C9BEED-4D42-4658-8368-17E908CDC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10668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F5F6EF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F5F6EF"/>
                </a:solidFill>
                <a:latin typeface="Arial"/>
                <a:ea typeface="Arial"/>
                <a:cs typeface="Arial"/>
              </a:rPr>
              <a:t>Real planning and semantic review</a:t>
            </a:r>
          </a:p>
          <a:p xmlns:a="http://schemas.openxmlformats.org/drawingml/2006/main">
            <a:pPr>
              <a:defRPr sz="3900" b="1">
                <a:solidFill>
                  <a:srgbClr val="F5F6EF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F5F6EF"/>
                </a:solidFill>
                <a:latin typeface="Arial"/>
                <a:ea typeface="Arial"/>
                <a:cs typeface="Arial"/>
              </a:rPr>
              <a:t>with deterministic execution authority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29D7B2-FA62-45AE-A0A0-165FCEB27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9100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8FDEBD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8FDEBD"/>
                </a:solidFill>
                <a:latin typeface="Arial"/>
                <a:ea typeface="Arial"/>
                <a:cs typeface="Arial"/>
              </a:rPr>
              <a:t>Milestone 2  /  local-first planner  /  public federal spending data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8AF7FB-3364-4ADC-8BCC-719BA654F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1500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B7CAC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B7CAC7"/>
                </a:solidFill>
                <a:latin typeface="Arial"/>
                <a:ea typeface="Arial"/>
                <a:cs typeface="Arial"/>
              </a:rPr>
              <a:t>Capability does not create authority</a:t>
            </a:r>
          </a:p>
        </p:txBody>
      </p:sp>
    </p:spTree>
    <p:extLst>
      <p:ext uri="{BB962C8B-B14F-4D97-AF65-F5344CB8AC3E}">
        <p14:creationId xmlns:p14="http://schemas.microsoft.com/office/powerpoint/2010/main" val="191317486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025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8EE641-A5D5-4A54-B9F2-09FC3A284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3875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5F6E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5F6EF"/>
                </a:solidFill>
                <a:latin typeface="Arial"/>
                <a:ea typeface="Arial"/>
                <a:cs typeface="Arial"/>
              </a:rPr>
              <a:t>Provider boundary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A8D873-143C-4639-B9E2-0E1EE827E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57375"/>
            <a:ext cx="323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8FDEB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8FDEBD"/>
                </a:solidFill>
                <a:latin typeface="Arial"/>
                <a:ea typeface="Arial"/>
                <a:cs typeface="Arial"/>
              </a:rPr>
              <a:t>Granite planner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D5BD7E-B562-4CFE-8ED2-4E7130C97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24125"/>
            <a:ext cx="4095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F5F6E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5F6EF"/>
                </a:solidFill>
                <a:latin typeface="Arial"/>
                <a:ea typeface="Arial"/>
                <a:cs typeface="Arial"/>
              </a:rPr>
              <a:t>Local LM Studio endpoint</a:t>
            </a:r>
          </a:p>
          <a:p xmlns:a="http://schemas.openxmlformats.org/drawingml/2006/main">
            <a:pPr>
              <a:defRPr sz="2250" b="0">
                <a:solidFill>
                  <a:srgbClr val="F5F6E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5F6EF"/>
                </a:solidFill>
                <a:latin typeface="Arial"/>
                <a:ea typeface="Arial"/>
                <a:cs typeface="Arial"/>
              </a:rPr>
              <a:t>Strict Proposal schema</a:t>
            </a:r>
          </a:p>
          <a:p xmlns:a="http://schemas.openxmlformats.org/drawingml/2006/main">
            <a:pPr>
              <a:defRPr sz="2250" b="0">
                <a:solidFill>
                  <a:srgbClr val="F5F6E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5F6EF"/>
                </a:solidFill>
                <a:latin typeface="Arial"/>
                <a:ea typeface="Arial"/>
                <a:cs typeface="Arial"/>
              </a:rPr>
              <a:t>No adapter or HTTP authority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AF4A8B-327C-4934-B858-FAF235645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857375"/>
            <a:ext cx="3810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8FDEB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8FDEBD"/>
                </a:solidFill>
                <a:latin typeface="Arial"/>
                <a:ea typeface="Arial"/>
                <a:cs typeface="Arial"/>
              </a:rPr>
              <a:t>Judge providers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8DA54C-8A2D-4E10-8C6E-5E18D4569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524125"/>
            <a:ext cx="47625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F5F6E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5F6EF"/>
                </a:solidFill>
                <a:latin typeface="Arial"/>
                <a:ea typeface="Arial"/>
                <a:cs typeface="Arial"/>
              </a:rPr>
              <a:t>GPT-5.6 Luna or Claude Sonnet 5</a:t>
            </a:r>
          </a:p>
          <a:p xmlns:a="http://schemas.openxmlformats.org/drawingml/2006/main">
            <a:pPr>
              <a:defRPr sz="2250" b="0">
                <a:solidFill>
                  <a:srgbClr val="F5F6E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5F6EF"/>
                </a:solidFill>
                <a:latin typeface="Arial"/>
                <a:ea typeface="Arial"/>
                <a:cs typeface="Arial"/>
              </a:rPr>
              <a:t>External credentials only</a:t>
            </a:r>
          </a:p>
          <a:p xmlns:a="http://schemas.openxmlformats.org/drawingml/2006/main">
            <a:pPr>
              <a:defRPr sz="2250" b="0">
                <a:solidFill>
                  <a:srgbClr val="F5F6E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5F6EF"/>
                </a:solidFill>
                <a:latin typeface="Arial"/>
                <a:ea typeface="Arial"/>
                <a:cs typeface="Arial"/>
              </a:rPr>
              <a:t>Typed semantic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E43B79-D3CB-4F6C-812D-C81451EA7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958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B7CAC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B7CAC7"/>
                </a:solidFill>
                <a:latin typeface="Arial"/>
                <a:ea typeface="Arial"/>
                <a:cs typeface="Arial"/>
              </a:rPr>
              <a:t>Configuration and secrets stay at the edge. Windows DPAPI is optional; governance never imports it.</a:t>
            </a:r>
          </a:p>
        </p:txBody>
      </p:sp>
    </p:spTree>
    <p:extLst>
      <p:ext uri="{BB962C8B-B14F-4D97-AF65-F5344CB8AC3E}">
        <p14:creationId xmlns:p14="http://schemas.microsoft.com/office/powerpoint/2010/main" val="39042374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025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C5D943-39FA-45D3-8789-028143D40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3875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5F6E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5F6EF"/>
                </a:solidFill>
                <a:latin typeface="Arial"/>
                <a:ea typeface="Arial"/>
                <a:cs typeface="Arial"/>
              </a:rPr>
              <a:t>One final authority path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B6F11F-F547-4BC6-86B9-F372E5C35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62125"/>
            <a:ext cx="238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8FDEBD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8FDEBD"/>
                </a:solidFill>
                <a:latin typeface="Arial"/>
                <a:ea typeface="Arial"/>
                <a:cs typeface="Arial"/>
              </a:rPr>
              <a:t>USER REQUEST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92ADBD-A0CB-4C4F-B78A-DE25D9584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76212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5F6E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5F6EF"/>
                </a:solidFill>
                <a:latin typeface="Arial"/>
                <a:ea typeface="Arial"/>
                <a:cs typeface="Arial"/>
              </a:rPr>
              <a:t>Granite proposal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35D6E9-BC2C-41E2-AB70-83524B796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762125"/>
            <a:ext cx="3714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5F6E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5F6EF"/>
                </a:solidFill>
                <a:latin typeface="Arial"/>
                <a:ea typeface="Arial"/>
                <a:cs typeface="Arial"/>
              </a:rPr>
              <a:t>Judge and Agent K evidence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BC90DA-6E13-4F8A-A669-7B9E06B3E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38500"/>
            <a:ext cx="4000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8FDEB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8FDEBD"/>
                </a:solidFill>
                <a:latin typeface="Arial"/>
                <a:ea typeface="Arial"/>
                <a:cs typeface="Arial"/>
              </a:rPr>
              <a:t>Deterministic policy gate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E5E8EA-EDF0-45B6-BFE5-F607E04FF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38500"/>
            <a:ext cx="5905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F5F6E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5F6EF"/>
                </a:solidFill>
                <a:latin typeface="Arial"/>
                <a:ea typeface="Arial"/>
                <a:cs typeface="Arial"/>
              </a:rPr>
              <a:t>PERMIT  |  DENY  |  REVIEW_REQUIRED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9967BA-9B5A-48AC-9AB6-00D924AB0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2437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5F6E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5F6EF"/>
                </a:solidFill>
                <a:latin typeface="Arial"/>
                <a:ea typeface="Arial"/>
                <a:cs typeface="Arial"/>
              </a:rPr>
              <a:t>Only PERMIT reaches registered USAspending tools. Provenance and audit are checked before and after execution.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EB80A2-AA2F-4DCA-AEA7-3785B260A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10250"/>
            <a:ext cx="1057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B7CAC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B7CAC7"/>
                </a:solidFill>
                <a:latin typeface="Arial"/>
                <a:ea typeface="Arial"/>
                <a:cs typeface="Arial"/>
              </a:rPr>
              <a:t>Judge and Agent K can contain or request review. They cannot grant permission.</a:t>
            </a:r>
          </a:p>
        </p:txBody>
      </p:sp>
    </p:spTree>
    <p:extLst>
      <p:ext uri="{BB962C8B-B14F-4D97-AF65-F5344CB8AC3E}">
        <p14:creationId xmlns:p14="http://schemas.microsoft.com/office/powerpoint/2010/main" val="15691516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025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2EAFEA-20FC-4CA7-9483-6B2616050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3875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5F6E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5F6EF"/>
                </a:solidFill>
                <a:latin typeface="Arial"/>
                <a:ea typeface="Arial"/>
                <a:cs typeface="Arial"/>
              </a:rPr>
              <a:t>Benchmark conditions and measures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7D71E7-B7D4-4CFD-956C-531CC649C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3524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8FDEBD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8FDEBD"/>
                </a:solidFill>
                <a:latin typeface="Arial"/>
                <a:ea typeface="Arial"/>
                <a:cs typeface="Arial"/>
              </a:rPr>
              <a:t>Granite candidates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DC2077-E811-4B56-AA98-DDFC6D422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4000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5F6E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5F6EF"/>
                </a:solidFill>
                <a:latin typeface="Arial"/>
                <a:ea typeface="Arial"/>
                <a:cs typeface="Arial"/>
              </a:rPr>
              <a:t>IBM Granite 3.1 8B  Q3</a:t>
            </a:r>
          </a:p>
          <a:p xmlns:a="http://schemas.openxmlformats.org/drawingml/2006/main">
            <a:pPr>
              <a:defRPr sz="2175" b="0">
                <a:solidFill>
                  <a:srgbClr val="F5F6E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5F6EF"/>
                </a:solidFill>
                <a:latin typeface="Arial"/>
                <a:ea typeface="Arial"/>
                <a:cs typeface="Arial"/>
              </a:rPr>
              <a:t>IBM Granite 4.2 8B  Q4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3CC50E-D7D4-4571-AE23-1509CFBDF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809750"/>
            <a:ext cx="609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5F6E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5F6EF"/>
                </a:solidFill>
                <a:latin typeface="Arial"/>
                <a:ea typeface="Arial"/>
                <a:cs typeface="Arial"/>
              </a:rPr>
              <a:t>J1  Mock  |  J2  GPT-5.6 Luna  |  J3  Claude Sonnet 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595274-9C08-4D3C-9EF3-CB2CD91CC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476500"/>
            <a:ext cx="600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B7CAC7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B7CAC7"/>
                </a:solidFill>
                <a:latin typeface="Arial"/>
                <a:ea typeface="Arial"/>
                <a:cs typeface="Arial"/>
              </a:rPr>
              <a:t>Status: exact live conditions are not frozen; J2 and J3 credentials are unavailable in normal CI.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FDC2A4-6381-46DF-A37B-4508D36A6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0"/>
            <a:ext cx="10668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F5F6E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5F6EF"/>
                </a:solidFill>
                <a:latin typeface="Arial"/>
                <a:ea typeface="Arial"/>
                <a:cs typeface="Arial"/>
              </a:rPr>
              <a:t>Report each measure separately: latency, TTFT, token rates, memory, VRAM, errors, selection, arguments, ambiguity, authority overreach, hidden tools, uncertainty, calibration, repeats and injection.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7CA618-4E9F-4C71-B24C-B9EF9C863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B7CAC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B7CAC7"/>
                </a:solidFill>
                <a:latin typeface="Arial"/>
                <a:ea typeface="Arial"/>
                <a:cs typeface="Arial"/>
              </a:rPr>
              <a:t>Quantization and generation settings remain comparison confounds until the trial record is frozen.</a:t>
            </a:r>
          </a:p>
        </p:txBody>
      </p:sp>
    </p:spTree>
    <p:extLst>
      <p:ext uri="{BB962C8B-B14F-4D97-AF65-F5344CB8AC3E}">
        <p14:creationId xmlns:p14="http://schemas.microsoft.com/office/powerpoint/2010/main" val="5135698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025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7DDDDE3-9DB4-41A5-A63E-515CD0A10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3875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5F6E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5F6EF"/>
                </a:solidFill>
                <a:latin typeface="Arial"/>
                <a:ea typeface="Arial"/>
                <a:cs typeface="Arial"/>
              </a:rPr>
              <a:t>Hybrid matrix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07B968-7A20-4F34-A68A-7933E2117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8FDEBD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8FDEBD"/>
                </a:solidFill>
                <a:latin typeface="Arial"/>
                <a:ea typeface="Arial"/>
                <a:cs typeface="Arial"/>
              </a:rPr>
              <a:t>Matrix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B42275-423A-4412-B0D9-2FF289891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714500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8FDEBD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8FDEBD"/>
                </a:solidFill>
                <a:latin typeface="Arial"/>
                <a:ea typeface="Arial"/>
                <a:cs typeface="Arial"/>
              </a:rPr>
              <a:t>Judge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79905B-AF51-4AB1-A2AA-D52BE6768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14500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8FDEBD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8FDEBD"/>
                </a:solidFill>
                <a:latin typeface="Arial"/>
                <a:ea typeface="Arial"/>
                <a:cs typeface="Arial"/>
              </a:rPr>
              <a:t>Agent 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274F32-0AE8-4C08-AACD-3CF13F5FE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714500"/>
            <a:ext cx="266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8FDEBD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8FDEBD"/>
                </a:solidFill>
                <a:latin typeface="Arial"/>
                <a:ea typeface="Arial"/>
                <a:cs typeface="Arial"/>
              </a:rPr>
              <a:t>Final authority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504F84-96D8-41DB-A587-F5E6D8B33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5F6E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5F6EF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053BD5-6D1E-4763-9EB2-424E629E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381250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F5F6E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5F6EF"/>
                </a:solidFill>
                <a:latin typeface="Arial"/>
                <a:ea typeface="Arial"/>
                <a:cs typeface="Arial"/>
              </a:rPr>
              <a:t>off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9E2807-1D94-4196-BEA0-D7D5C1855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81250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F5F6E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5F6EF"/>
                </a:solidFill>
                <a:latin typeface="Arial"/>
                <a:ea typeface="Arial"/>
                <a:cs typeface="Arial"/>
              </a:rPr>
              <a:t>off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5A3578-576F-444C-839F-02BF8EE90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81250"/>
            <a:ext cx="266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5F6E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5F6EF"/>
                </a:solidFill>
                <a:latin typeface="Arial"/>
                <a:ea typeface="Arial"/>
                <a:cs typeface="Arial"/>
              </a:rPr>
              <a:t>Deterministic policy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39ED88-A5AF-44D3-8AD4-90E5C3A1B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5F6E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5F6EF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5D9BE0-F872-44EF-AC09-667848E5F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048000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F5F6E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5F6EF"/>
                </a:solidFill>
                <a:latin typeface="Arial"/>
                <a:ea typeface="Arial"/>
                <a:cs typeface="Arial"/>
              </a:rPr>
              <a:t>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392C04-7985-44B8-9EFD-483B71915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8000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F5F6E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5F6EF"/>
                </a:solidFill>
                <a:latin typeface="Arial"/>
                <a:ea typeface="Arial"/>
                <a:cs typeface="Arial"/>
              </a:rPr>
              <a:t>off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404B48-AD38-4211-A19F-A0A8F6D7A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48000"/>
            <a:ext cx="266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5F6E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5F6EF"/>
                </a:solidFill>
                <a:latin typeface="Arial"/>
                <a:ea typeface="Arial"/>
                <a:cs typeface="Arial"/>
              </a:rPr>
              <a:t>Deterministic policy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912AE8-9F1B-4A06-AD8F-BA90BE2E1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14750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5F6E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5F6EF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9C09C8-ECA0-4798-8335-1F86EC72A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714750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F5F6E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5F6EF"/>
                </a:solidFill>
                <a:latin typeface="Arial"/>
                <a:ea typeface="Arial"/>
                <a:cs typeface="Arial"/>
              </a:rPr>
              <a:t>off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C372BA-5516-4B41-BFF7-80B4CB15E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14750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F5F6E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5F6EF"/>
                </a:solidFill>
                <a:latin typeface="Arial"/>
                <a:ea typeface="Arial"/>
                <a:cs typeface="Arial"/>
              </a:rPr>
              <a:t>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7643A4-AEBA-469A-A7B2-82286A291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714750"/>
            <a:ext cx="266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5F6E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5F6EF"/>
                </a:solidFill>
                <a:latin typeface="Arial"/>
                <a:ea typeface="Arial"/>
                <a:cs typeface="Arial"/>
              </a:rPr>
              <a:t>Deterministic policy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706F95-ED18-4D7C-A951-3B3C53D78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81500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5F6E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5F6EF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0D7BF3-1056-4D52-ACC7-F9F446FBF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381500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F5F6E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5F6EF"/>
                </a:solidFill>
                <a:latin typeface="Arial"/>
                <a:ea typeface="Arial"/>
                <a:cs typeface="Arial"/>
              </a:rPr>
              <a:t>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2F3CD7-1469-44C3-A698-A8B713601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81500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F5F6E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5F6EF"/>
                </a:solidFill>
                <a:latin typeface="Arial"/>
                <a:ea typeface="Arial"/>
                <a:cs typeface="Arial"/>
              </a:rPr>
              <a:t>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C99B2E-9819-410B-99BE-AD741BB7F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381500"/>
            <a:ext cx="266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5F6E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5F6EF"/>
                </a:solidFill>
                <a:latin typeface="Arial"/>
                <a:ea typeface="Arial"/>
                <a:cs typeface="Arial"/>
              </a:rPr>
              <a:t>Deterministic policy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337E6E-3227-4769-B319-711E14500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72125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B7CAC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B7CAC7"/>
                </a:solidFill>
                <a:latin typeface="Arial"/>
                <a:ea typeface="Arial"/>
                <a:cs typeface="Arial"/>
              </a:rPr>
              <a:t>33 adversarial fixtures. Differences are component observations, not an aggregate winner.</a:t>
            </a:r>
          </a:p>
        </p:txBody>
      </p:sp>
    </p:spTree>
    <p:extLst>
      <p:ext uri="{BB962C8B-B14F-4D97-AF65-F5344CB8AC3E}">
        <p14:creationId xmlns:p14="http://schemas.microsoft.com/office/powerpoint/2010/main" val="150845456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025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FB69D4-1F0F-4CAA-92FB-41C203CC6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3875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5F6E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5F6EF"/>
                </a:solidFill>
                <a:latin typeface="Arial"/>
                <a:ea typeface="Arial"/>
                <a:cs typeface="Arial"/>
              </a:rPr>
              <a:t>Evidence and current disposition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4FDC37-F2D9-4A70-81FE-15BC74B53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476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8FDEBD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8FDEBD"/>
                </a:solidFill>
                <a:latin typeface="Arial"/>
                <a:ea typeface="Arial"/>
                <a:cs typeface="Arial"/>
              </a:rPr>
              <a:t>88 tests passed locally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0D29CE-7E14-4D35-9F6D-221ED3767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6000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5F6E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5F6EF"/>
                </a:solidFill>
                <a:latin typeface="Arial"/>
                <a:ea typeface="Arial"/>
                <a:cs typeface="Arial"/>
              </a:rPr>
              <a:t>33/33 synthetic fixture outcomes matched</a:t>
            </a:r>
          </a:p>
          <a:p xmlns:a="http://schemas.openxmlformats.org/drawingml/2006/main">
            <a:pPr>
              <a:defRPr sz="2175" b="0">
                <a:solidFill>
                  <a:srgbClr val="F5F6E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5F6EF"/>
                </a:solidFill>
                <a:latin typeface="Arial"/>
                <a:ea typeface="Arial"/>
                <a:cs typeface="Arial"/>
              </a:rPr>
              <a:t>A–D matrix completed with disagreement records</a:t>
            </a:r>
          </a:p>
          <a:p xmlns:a="http://schemas.openxmlformats.org/drawingml/2006/main">
            <a:pPr>
              <a:defRPr sz="2175" b="0">
                <a:solidFill>
                  <a:srgbClr val="F5F6E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5F6EF"/>
                </a:solidFill>
                <a:latin typeface="Arial"/>
                <a:ea typeface="Arial"/>
                <a:cs typeface="Arial"/>
              </a:rPr>
              <a:t>Credential-free CI path and opt-in live 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31BDAE-CC5E-4344-A73B-4A2763B6F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962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8FDEBD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8FDEBD"/>
                </a:solidFill>
                <a:latin typeface="Arial"/>
                <a:ea typeface="Arial"/>
                <a:cs typeface="Arial"/>
              </a:rPr>
              <a:t>MILESTONE_2_VALIDATED_WITH_LIMITATIONS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ABE370-4783-4387-8D64-0F3B3B2A7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29250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B7CAC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B7CAC7"/>
                </a:solidFill>
                <a:latin typeface="Arial"/>
                <a:ea typeface="Arial"/>
                <a:cs typeface="Arial"/>
              </a:rPr>
              <a:t>Live Granite and live judge evidence remain unverified until an operator freezes conditions and supplies external credentials. No production-readiness or global model claim.</a:t>
            </a:r>
          </a:p>
        </p:txBody>
      </p:sp>
    </p:spTree>
    <p:extLst>
      <p:ext uri="{BB962C8B-B14F-4D97-AF65-F5344CB8AC3E}">
        <p14:creationId xmlns:p14="http://schemas.microsoft.com/office/powerpoint/2010/main" val="102350817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2026-09-18T00:36:40.2900000Z</dcterms:created>
  <dcterms:modified xsi:type="dcterms:W3CDTF">2026-09-18T00:36:40.2900000Z</dcterms:modified>
</coreProperties>
</file>