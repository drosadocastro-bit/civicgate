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84ae0d45d4f7c" /><Relationship Type="http://schemas.openxmlformats.org/officeDocument/2006/relationships/extended-properties" Target="/docProps/app.xml" Id="R8bfe977683ce4ab9" /><Relationship Type="http://schemas.openxmlformats.org/officeDocument/2006/relationships/officeDocument" Target="/ppt/presentation.xml" Id="R93353373cd33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cf3bf7678479a"/>
  </p:sldMasterIdLst>
  <p:notesMasterIdLst>
    <p:notesMasterId xmlns:r="http://schemas.openxmlformats.org/officeDocument/2006/relationships" r:id="Rb3fb4610b9d84a55"/>
  </p:notesMasterIdLst>
  <p:sldIdLst>
    <p:sldId xmlns:r="http://schemas.openxmlformats.org/officeDocument/2006/relationships" id="256" r:id="Rf03c9e92d2524831"/>
    <p:sldId xmlns:r="http://schemas.openxmlformats.org/officeDocument/2006/relationships" id="257" r:id="Re047013ae17644e5"/>
    <p:sldId xmlns:r="http://schemas.openxmlformats.org/officeDocument/2006/relationships" id="258" r:id="R8bf635027ef943b4"/>
    <p:sldId xmlns:r="http://schemas.openxmlformats.org/officeDocument/2006/relationships" id="259" r:id="R7db19a413f7c4f66"/>
    <p:sldId xmlns:r="http://schemas.openxmlformats.org/officeDocument/2006/relationships" id="260" r:id="Rc92ab415b8624a83"/>
    <p:sldId xmlns:r="http://schemas.openxmlformats.org/officeDocument/2006/relationships" id="261" r:id="Rdf3477ef462745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aecac6e7243b6" /><Relationship Type="http://schemas.openxmlformats.org/officeDocument/2006/relationships/slideMaster" Target="/ppt/slideMasters/slideMaster1.xml" Id="R084cf3bf7678479a" /><Relationship Type="http://schemas.openxmlformats.org/officeDocument/2006/relationships/notesMaster" Target="/ppt/notesMasters/notesMaster1.xml" Id="Rb3fb4610b9d84a55" /><Relationship Type="http://schemas.openxmlformats.org/officeDocument/2006/relationships/presProps" Target="/ppt/presProps.xml" Id="R4277974009914f3f" /><Relationship Type="http://schemas.openxmlformats.org/officeDocument/2006/relationships/tableStyles" Target="/ppt/tableStyles.xml" Id="R8a520841bfc24ee9" /><Relationship Type="http://schemas.openxmlformats.org/officeDocument/2006/relationships/slide" Target="/ppt/slides/slide1.xml" Id="Rf03c9e92d2524831" /><Relationship Type="http://schemas.openxmlformats.org/officeDocument/2006/relationships/slide" Target="/ppt/slides/slide2.xml" Id="Re047013ae17644e5" /><Relationship Type="http://schemas.openxmlformats.org/officeDocument/2006/relationships/slide" Target="/ppt/slides/slide3.xml" Id="R8bf635027ef943b4" /><Relationship Type="http://schemas.openxmlformats.org/officeDocument/2006/relationships/slide" Target="/ppt/slides/slide4.xml" Id="R7db19a413f7c4f66" /><Relationship Type="http://schemas.openxmlformats.org/officeDocument/2006/relationships/slide" Target="/ppt/slides/slide5.xml" Id="Rc92ab415b8624a83" /><Relationship Type="http://schemas.openxmlformats.org/officeDocument/2006/relationships/slide" Target="/ppt/slides/slide6.xml" Id="Rdf3477ef462745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2985aa27742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91c3ab512474c" /><Relationship Type="http://schemas.openxmlformats.org/officeDocument/2006/relationships/notesMaster" Target="/ppt/notesMasters/notesMaster1.xml" Id="R626d50184fab47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cc53cf9b0a4a47" /><Relationship Type="http://schemas.openxmlformats.org/officeDocument/2006/relationships/notesMaster" Target="/ppt/notesMasters/notesMaster1.xml" Id="Rd89de070d44a46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0640e0fde94438" /><Relationship Type="http://schemas.openxmlformats.org/officeDocument/2006/relationships/notesMaster" Target="/ppt/notesMasters/notesMaster1.xml" Id="R7c273746e466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26c063a9b4a34" /><Relationship Type="http://schemas.openxmlformats.org/officeDocument/2006/relationships/notesMaster" Target="/ppt/notesMasters/notesMaster1.xml" Id="R0502eb88c96e4f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b15cc63e84830" /><Relationship Type="http://schemas.openxmlformats.org/officeDocument/2006/relationships/notesMaster" Target="/ppt/notesMasters/notesMaster1.xml" Id="Rd8da42ca238d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b2788db324b33" /><Relationship Type="http://schemas.openxmlformats.org/officeDocument/2006/relationships/notesMaster" Target="/ppt/notesMasters/notesMaster1.xml" Id="R15376b45eb62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Milestone 1, September 17, 2026. Local sandbox prototype. Source: repository README.md and docs/AUTHORITY_MODEL.md.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docs/AUTHORITY_MODEL.md; https://www.gsa.gov/artificial-intelligence/ai-community-of-practice/events-and-training/mcp-server-and-ai-agent-government-hackathon reviewed September 17, 2026. No claim of GSA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src/civicgate/agent/agent.py, governance/policy.py, mcp/tools.py. Agent and judge do not authorize. In-process agent and stdio MCP share the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src/civicgate/mcp/server.py. State means place of performance. Award amount sums are not fiscal-year transaction obligations.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civicgate demo; tests/adversarial/test_gateway.py. Explicit synthetic data and mock semantic signals. REVIEW follows a permitted factual recipient lookup; no identity is selected.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artifacts/tests.xml, evaluation.json, live-smoke.json, dependency-audit.json; docs/BUILD_REPORT.md. Results apply to this build only. No PRAETOR validation transferred.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957d9201c46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0b706bc4aa4841" /><Relationship Type="http://schemas.openxmlformats.org/officeDocument/2006/relationships/slideLayout" Target="/ppt/slideLayouts/slideLayout1.xml" Id="Rfefe601d77be48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fe601d77be48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73dff2c6443c2" /><Relationship Type="http://schemas.openxmlformats.org/officeDocument/2006/relationships/notesSlide" Target="/ppt/notesSlides/notesSlide1.xml" Id="R00e1f88c72314e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7d9cc6e764575" /><Relationship Type="http://schemas.openxmlformats.org/officeDocument/2006/relationships/notesSlide" Target="/ppt/notesSlides/notesSlide2.xml" Id="Rdfed104aa09e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0dd29be0f41a1" /><Relationship Type="http://schemas.openxmlformats.org/officeDocument/2006/relationships/notesSlide" Target="/ppt/notesSlides/notesSlide3.xml" Id="R788ba7c9a4b8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21b73cbc49e8" /><Relationship Type="http://schemas.openxmlformats.org/officeDocument/2006/relationships/notesSlide" Target="/ppt/notesSlides/notesSlide4.xml" Id="R0f7ebe34118d47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b215f765e4c17" /><Relationship Type="http://schemas.openxmlformats.org/officeDocument/2006/relationships/notesSlide" Target="/ppt/notesSlides/notesSlide5.xml" Id="R34f8ce13a80a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040d283294f40" /><Relationship Type="http://schemas.openxmlformats.org/officeDocument/2006/relationships/notesSlide" Target="/ppt/notesSlides/notesSlide6.xml" Id="R12203c11673c4a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09F09-2EE9-4C57-9150-4EF7620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CivicGate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E9D65-67A8-4E15-AB26-65B6AE14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Governed access to public</a:t>
            </a:r>
          </a:p>
          <a:p xmlns:a="http://schemas.openxmlformats.org/drawingml/2006/main">
            <a:pPr>
              <a:defRPr sz="40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federal spending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E03B8-A788-4216-A8DD-2B5526DA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FDEBD"/>
                </a:solidFill>
                <a:latin typeface="Arial"/>
                <a:ea typeface="Arial"/>
                <a:cs typeface="Arial"/>
              </a:rPr>
              <a:t>Capability does not create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3A919-F6F7-4B6F-B6B4-9128C6B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Sandbox prototype  /  Milestone 1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82965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FE5A7-7FFD-452D-B537-BE93C90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The research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45142-A68C-4616-8FCC-4B87C2DD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Find and explain public spending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305C5-45E8-4F06-9BF3-AAF636E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Researchers can locate awards, inspect known records,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resolve recipient candidates and summarize a bounded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08B9-BD53-4703-A067-247F5BBA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No procurement, fraud, eligibility, debarment</a:t>
            </a:r>
          </a:p>
          <a:p xmlns:a="http://schemas.openxmlformats.org/drawingml/2006/main">
            <a:pPr>
              <a:defRPr sz="240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or payment decisions</a:t>
            </a:r>
          </a:p>
        </p:txBody>
      </p:sp>
    </p:spTree>
    <p:extLst>
      <p:ext uri="{BB962C8B-B14F-4D97-AF65-F5344CB8AC3E}">
        <p14:creationId xmlns:p14="http://schemas.microsoft.com/office/powerpoint/2010/main" val="98497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02BE4-45BF-4B81-B41C-95A11813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One authorization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D05C9-CB80-4D21-9F3C-95DE9FE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Agent proposal  →  Judge + Agent K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B902-2FD2-4CB6-BDB0-3448144A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Deterministic policy  →  PERMIT / DENY /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0284E-5074-44CE-9E1E-009B6CB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PERMIT only  →  Public API  →  Provenance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0CA69-609A-4766-9E89-4025874D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A model signal cannot reverse a deterministic denial.</a:t>
            </a:r>
          </a:p>
        </p:txBody>
      </p:sp>
    </p:spTree>
    <p:extLst>
      <p:ext uri="{BB962C8B-B14F-4D97-AF65-F5344CB8AC3E}">
        <p14:creationId xmlns:p14="http://schemas.microsoft.com/office/powerpoint/2010/main" val="1635945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4CAD5-07E8-4443-9276-85D7109C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Four tools for public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E273F-321B-4CB4-8796-12F4B9B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Find awards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94704-9267-4884-8DDC-0B7A4E6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Up to 100 records in a bounded date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24610-DAE1-4B62-A22C-94D4BACC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Get an award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E4C5-2ADB-4661-A7C1-4F2985F0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Known internal or generated award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23B39-EF70-40F2-84CA-8E14823A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Resolve a recipient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5FD73-DC13-4606-ACBB-A69EC91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57625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Public candidates; ambiguity requires clarification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20975-A84F-43C7-9F13-3AD7921E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Summarize spending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B89FA-8F04-4563-934E-84F95B3E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10125"/>
            <a:ext cx="714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Returned-page award amounts, with truncation visible</a:t>
            </a:r>
          </a:p>
        </p:txBody>
      </p:sp>
    </p:spTree>
    <p:extLst>
      <p:ext uri="{BB962C8B-B14F-4D97-AF65-F5344CB8AC3E}">
        <p14:creationId xmlns:p14="http://schemas.microsoft.com/office/powerpoint/2010/main" val="62308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4931-6D4A-463A-BDB6-82A6A5B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Three visible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5EBFC-B1EF-4AF9-AFD9-64F066D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PERMIT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C0C7-8790-4BBA-9ABC-51171C00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Bounded FY2025 award research in Puerto 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8105A-4CDE-4C4F-91AB-00BC4F48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DENY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9006-8857-467E-AE89-6ABB8BDD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Blacklist a contractor: no tool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84B91-D034-45C0-B034-C902E96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REVIEW_REQUIRED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F8901-60AD-4DBE-9EE4-5EFCE5AA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Acme has multiple candidates: ask for clarification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DAFA5-C15C-472B-8A71-B6345957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Reproducible demo uses labeled synthetic fixtures.</a:t>
            </a:r>
          </a:p>
        </p:txBody>
      </p:sp>
    </p:spTree>
    <p:extLst>
      <p:ext uri="{BB962C8B-B14F-4D97-AF65-F5344CB8AC3E}">
        <p14:creationId xmlns:p14="http://schemas.microsoft.com/office/powerpoint/2010/main" val="1139210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3CAFF-78E6-4C02-A94C-A98EE43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Evidence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77A14-D546-4D5D-A657-76E4067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77 tests passed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6300D-E3D9-4001-A224-1D0869C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16/16 fixture outcomes matched; live search, award detail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and recipient API contracts returned validated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28C56-7EA7-4DDA-982D-DABF671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Real-model quality and remote CI remain unverified.</a:t>
            </a:r>
          </a:p>
          <a:p xmlns:a="http://schemas.openxmlformats.org/drawingml/2006/main">
            <a:pPr>
              <a:defRPr sz="225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Docker runtime requires an available Linux daemon.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70FE2-9798-4515-A777-F30E313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PRAETOR mechanisms inspired this build; its results do not validate it.</a:t>
            </a:r>
          </a:p>
        </p:txBody>
      </p:sp>
    </p:spTree>
    <p:extLst>
      <p:ext uri="{BB962C8B-B14F-4D97-AF65-F5344CB8AC3E}">
        <p14:creationId xmlns:p14="http://schemas.microsoft.com/office/powerpoint/2010/main" val="418309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2026-09-17T17:09:30.3860000Z</dcterms:created>
  <dcterms:modified xsi:type="dcterms:W3CDTF">2026-09-17T17:09:30.3860000Z</dcterms:modified>
</coreProperties>
</file>